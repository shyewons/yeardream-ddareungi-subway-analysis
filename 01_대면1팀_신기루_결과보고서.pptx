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17"/>
    <p:sldId id="261" r:id="rId7"/>
    <p:sldId id="262" r:id="rId8"/>
    <p:sldId id="263" r:id="rId9"/>
    <p:sldId id="264" r:id="rId10"/>
    <p:sldId id="267" r:id="rId18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63440" cy="6858000"/>
          </a:xfrm>
          <a:prstGeom prst="rect">
            <a:avLst/>
          </a:prstGeom>
          <a:solidFill>
            <a:srgbClr val="102B52"/>
          </a:solidFill>
          <a:ln w="12700">
            <a:solidFill>
              <a:srgbClr val="102B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63840" y="502920"/>
            <a:ext cx="3474720" cy="3474720"/>
          </a:xfrm>
          <a:prstGeom prst="arc">
            <a:avLst/>
          </a:prstGeom>
          <a:solidFill>
            <a:srgbClr val="102B52">
              <a:alpha val="0"/>
            </a:srgbClr>
          </a:solidFill>
          <a:ln w="25400">
            <a:solidFill>
              <a:srgbClr val="67E8F9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777240"/>
            <a:ext cx="6035040" cy="114300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800" b="1">
                <a:solidFill>
                  <a:srgbClr val="FFFFFF"/>
                </a:solidFill>
                <a:latin typeface="NanumSquare"/>
              </a:defRPr>
            </a:pPr>
            <a:r>
              <a:t>지하철 하차 수요 기반</a:t>
            </a:r>
            <a:br/>
            <a:r>
              <a:t>따릉이 재배치·증설 전략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760720" cy="292608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1500" b="0">
                <a:solidFill>
                  <a:srgbClr val="9AB5C9"/>
                </a:solidFill>
                <a:latin typeface="NanumSquare"/>
              </a:defRPr>
            </a:pPr>
            <a:r>
              <a:t>서울시 따릉이 수급 최적화 분석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212080" cy="0"/>
          </a:xfrm>
          <a:prstGeom prst="line">
            <a:avLst/>
          </a:prstGeom>
          <a:noFill/>
          <a:ln w="16510">
            <a:solidFill>
              <a:srgbClr val="67E8F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결론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6217920" cy="86868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000" b="1">
                <a:solidFill>
                  <a:srgbClr val="FFFFFF"/>
                </a:solidFill>
                <a:latin typeface="NanumSquare"/>
              </a:defRPr>
            </a:pPr>
            <a:r>
              <a:t>퇴근시간 주거지형 역의 하차 수요는</a:t>
            </a:r>
            <a:br/>
            <a:r>
              <a:t>따릉이 재배치 우선순위를 판단하는 핵심 신호다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82128" y="2057400"/>
            <a:ext cx="3063240" cy="822960"/>
          </a:xfrm>
          <a:prstGeom prst="roundRect">
            <a:avLst>
              <a:gd name="adj" fmla="val 15556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0" y="220370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7E8F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퇴근시간 17–19시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2734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기준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882128" y="3035808"/>
            <a:ext cx="3063240" cy="822960"/>
          </a:xfrm>
          <a:prstGeom prst="roundRect">
            <a:avLst>
              <a:gd name="adj" fmla="val 15556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0" y="31821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하차인원 × 이용건수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3538728"/>
            <a:ext cx="2734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변수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882128" y="4014216"/>
            <a:ext cx="3063240" cy="822960"/>
          </a:xfrm>
          <a:prstGeom prst="roundRect">
            <a:avLst>
              <a:gd name="adj" fmla="val 15556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0" y="4160520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재배치·증설 우선순위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0" y="4517136"/>
            <a:ext cx="2734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방향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31520" y="6263640"/>
            <a:ext cx="3108960" cy="201168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indent="0" marL="0">
              <a:buNone/>
              <a:defRPr sz="800" b="0">
                <a:solidFill>
                  <a:srgbClr val="9AB5C9"/>
                </a:solidFill>
                <a:latin typeface="NanumSquare"/>
              </a:defRPr>
            </a:pPr>
            <a:r>
              <a:t>Team 신기루  |  Data-driven mobility operation strategy</a:t>
            </a:r>
            <a:endParaRPr lang="en-US" sz="850" dirty="0"/>
          </a:p>
        </p:txBody>
      </p:sp>
      <p:sp>
        <p:nvSpPr>
          <p:cNvPr id="19" name="Rounded Rectangle 18"/>
          <p:cNvSpPr/>
          <p:nvPr/>
        </p:nvSpPr>
        <p:spPr>
          <a:xfrm>
            <a:off x="658368" y="393192"/>
            <a:ext cx="1783080" cy="384048"/>
          </a:xfrm>
          <a:prstGeom prst="roundRect">
            <a:avLst/>
          </a:prstGeom>
          <a:solidFill>
            <a:srgbClr val="4BE3F4"/>
          </a:solidFill>
          <a:ln>
            <a:solidFill>
              <a:srgbClr val="4B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0B223A"/>
                </a:solidFill>
                <a:latin typeface="NanumSquare"/>
              </a:defRPr>
            </a:pPr>
            <a:r>
              <a:t>TEAM  신기루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결론 요약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서울시는 전체 이용량이 아니라 시간대별 하차 흐름을 기준으로 운영해야 한다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212080" cy="4206240"/>
          </a:xfrm>
          <a:prstGeom prst="roundRect">
            <a:avLst>
              <a:gd name="adj" fmla="val 3043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1600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주장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퇴근시간대 지하철 하차인원이 증가할수록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따릉이 이용건수도 함께 증가한다.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노원 등 주거지형 역을 중심으로 자전거 재배치와 거치대 증설 우선순위를 설정해야 한다.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400800" y="1298448"/>
            <a:ext cx="233172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61120" y="1298448"/>
            <a:ext cx="233172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0" y="2770632"/>
            <a:ext cx="233172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961120" y="2770632"/>
            <a:ext cx="2331720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629400" y="1499616"/>
            <a:ext cx="694944" cy="29260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2552" y="156362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WHAT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629400" y="1856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수급 불균형 역 식별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189720" y="1499616"/>
            <a:ext cx="694944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62872" y="156362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9189720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이용객 이탈 방지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629400" y="2971800"/>
            <a:ext cx="694944" cy="292608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02552" y="303580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HOW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629400" y="33284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지표 설계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189720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62872" y="30358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F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9189720" y="3328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재배치·증설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537960" y="4608576"/>
            <a:ext cx="1325880" cy="4114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973568" y="4608576"/>
            <a:ext cx="1325880" cy="41148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409176" y="4608576"/>
            <a:ext cx="1325880" cy="41148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537960" y="47365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 측정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7973568" y="47365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공급 비교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409176" y="47365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SCQA 문제 정의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바바라 민토 구조로 “왜 이 분석이 필요한가”를 먼저 정리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61872"/>
            <a:ext cx="5166360" cy="1965960"/>
          </a:xfrm>
          <a:prstGeom prst="roundRect">
            <a:avLst>
              <a:gd name="adj" fmla="val 6512"/>
            </a:avLst>
          </a:prstGeom>
          <a:solidFill>
            <a:srgbClr val="EFF6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41832" y="14721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  Situation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41832" y="1828800"/>
            <a:ext cx="46451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서울시는 지하철과 따릉이를 연계한 생활 교통 서비스를 운영하고 있으며, 주거지 지하철역 주변에서는 출퇴근 시간대에 따릉이 이용 수요가 집중된다.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336792" y="1261872"/>
            <a:ext cx="5166360" cy="1965960"/>
          </a:xfrm>
          <a:prstGeom prst="roundRect">
            <a:avLst>
              <a:gd name="adj" fmla="val 6512"/>
            </a:avLst>
          </a:prstGeom>
          <a:solidFill>
            <a:srgbClr val="FFF7ED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2824" y="14721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 Complication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6592824" y="1828800"/>
            <a:ext cx="46451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그러나 노원 등 일부 주거지 역 주변에서는 출퇴근 시간대 따릉이 수량 부족 민원이 발생하고 있다. 이 문제가 지속되면 시민 만족도 하락, 이용객 이탈, 이용률 하락, 운영 효율 저하가 발생할 수 있다.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5166360" cy="1965960"/>
          </a:xfrm>
          <a:prstGeom prst="roundRect">
            <a:avLst>
              <a:gd name="adj" fmla="val 6512"/>
            </a:avLst>
          </a:prstGeom>
          <a:solidFill>
            <a:srgbClr val="ECFDF5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1832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  Question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941832" y="4361688"/>
            <a:ext cx="46451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출퇴근 시간대 지하철 혼잡도와 따릉이 이용 데이터를 비교했을 때, 따릉이 수요와 공급 사이에 불균형이 나타나는 역은 어디이며, 서울시는 어떤 기준으로 재배치와 거치대 증설 우선순위를 정해야 하는가?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6336792" y="3794760"/>
            <a:ext cx="5166360" cy="1965960"/>
          </a:xfrm>
          <a:prstGeom prst="roundRect">
            <a:avLst>
              <a:gd name="adj" fmla="val 6512"/>
            </a:avLst>
          </a:prstGeom>
          <a:solidFill>
            <a:srgbClr val="FEF2F2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92824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EF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 Answer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592824" y="4361688"/>
            <a:ext cx="46451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 불균형은 노원 등 주거지 중심 역의 퇴근 시간대 하차 흐름에서 두드러지며, 서울시는 지하철 하차 수요와 따릉이 이용·공급 지표를 결합한 통합 지표로 우선순위를 수립해야 한다.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피라미드 원리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결론을 먼저 제시하고, 세 가지 근거와 데이터로 지지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2331720"/>
            <a:ext cx="-2926080" cy="932688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80760" y="2331720"/>
            <a:ext cx="0" cy="932688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80760" y="2331720"/>
            <a:ext cx="2926080" cy="932688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17520" y="1234440"/>
            <a:ext cx="5577840" cy="969264"/>
          </a:xfrm>
          <a:prstGeom prst="roundRect">
            <a:avLst>
              <a:gd name="adj" fmla="val 13208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73552" y="1399032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7E8F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주장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3273552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서울시는 퇴근시간대 주거지형 역의 하차 수요를 기준으로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따릉이 재배치와 거치대 증설 우선순위를 정해야 한다.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2971800" cy="1243584"/>
          </a:xfrm>
          <a:prstGeom prst="roundRect">
            <a:avLst>
              <a:gd name="adj" fmla="val 10294"/>
            </a:avLst>
          </a:prstGeom>
          <a:solidFill>
            <a:srgbClr val="EFF6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3264408"/>
            <a:ext cx="78638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33272" y="332841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1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969264" y="3675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퇴근시간 하차 인원과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따릉이 이용건수는 함께 증가한다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822960" y="4645152"/>
            <a:ext cx="278892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7552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하차인원 로그 스케일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산점도·회귀선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206240" y="3063240"/>
            <a:ext cx="2971800" cy="1243584"/>
          </a:xfrm>
          <a:prstGeom prst="roundRect">
            <a:avLst>
              <a:gd name="adj" fmla="val 10294"/>
            </a:avLst>
          </a:prstGeom>
          <a:solidFill>
            <a:srgbClr val="ECFDF5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434840" y="3264408"/>
            <a:ext cx="78638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07992" y="332841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2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443984" y="3675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외 시간대는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관계가 상대적으로 약하다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4297680" y="4645152"/>
            <a:ext cx="278892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462272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시간대 분리 비교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추세선 차이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680960" y="3063240"/>
            <a:ext cx="2971800" cy="1243584"/>
          </a:xfrm>
          <a:prstGeom prst="roundRect">
            <a:avLst>
              <a:gd name="adj" fmla="val 10294"/>
            </a:avLst>
          </a:prstGeom>
          <a:solidFill>
            <a:srgbClr val="FFF7ED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09560" y="3264408"/>
            <a:ext cx="78638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982712" y="332841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3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918704" y="36758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지표로 개선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우선순위를 정할 수 있다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7772400" y="4645152"/>
            <a:ext cx="278892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936992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하차 수요·이용건수·공급량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점수화 및 랭킹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데이터 및 전처리 방식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지하철 역 단위와 따릉이 대여소 단위를 맞추기 위한 가공 흐름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691640" cy="233172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87552" y="2029968"/>
            <a:ext cx="310896" cy="31089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0802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2514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지하철 데이터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996696" y="2971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역별·시간대별</a:t>
            </a:r>
            <a:endParaRPr lang="en-US" sz="890" dirty="0"/>
          </a:p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하차인원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2578608" y="2761488"/>
            <a:ext cx="411480" cy="41148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108960" y="1828800"/>
            <a:ext cx="1691640" cy="233172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73552" y="2029968"/>
            <a:ext cx="310896" cy="31089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73552" y="20802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73552" y="2514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따릉이 데이터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282696" y="2971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대여일자·대여시간</a:t>
            </a:r>
            <a:endParaRPr lang="en-US" sz="890" dirty="0"/>
          </a:p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대여소명·이용건수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4864608" y="2761488"/>
            <a:ext cx="411480" cy="41148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394960" y="1828800"/>
            <a:ext cx="1691640" cy="233172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59552" y="2029968"/>
            <a:ext cx="310896" cy="31089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59552" y="20802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59552" y="2514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역명 추출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568696" y="2971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“2169. 봉천역 2번출구”</a:t>
            </a:r>
            <a:endParaRPr lang="en-US" sz="890" dirty="0"/>
          </a:p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“봉천역”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7150608" y="2761488"/>
            <a:ext cx="411480" cy="41148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680960" y="1828800"/>
            <a:ext cx="1691640" cy="233172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845552" y="2029968"/>
            <a:ext cx="310896" cy="31089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845552" y="20802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45552" y="2514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시간대 결합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854696" y="2971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17–19시 퇴근시간</a:t>
            </a:r>
            <a:endParaRPr lang="en-US" sz="890" dirty="0"/>
          </a:p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외 시간대 분리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9436608" y="2761488"/>
            <a:ext cx="411480" cy="411480"/>
          </a:xfrm>
          <a:prstGeom prst="chevron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966960" y="1828800"/>
            <a:ext cx="1691640" cy="2331720"/>
          </a:xfrm>
          <a:prstGeom prst="roundRect">
            <a:avLst>
              <a:gd name="adj" fmla="val 7568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131552" y="20299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131552" y="20802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31552" y="25146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테이블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10140696" y="2971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역명 × 시간대별</a:t>
            </a:r>
            <a:endParaRPr lang="en-US" sz="890" dirty="0"/>
          </a:p>
          <a:p>
            <a:pPr algn="ctr" indent="0" marL="0">
              <a:buNone/>
            </a:pPr>
            <a:r>
              <a:rPr lang="en-US" sz="89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하차수요·이용건수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914400" y="4937760"/>
            <a:ext cx="10287000" cy="777240"/>
          </a:xfrm>
          <a:prstGeom prst="roundRect">
            <a:avLst>
              <a:gd name="adj" fmla="val 16471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43000" y="515721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가공 포인트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60320" y="51297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대여소명에 “역”이 포함된 행만 사용하고, 지하철 하차인원은 로그 스케일로 변환하여 분포 왜곡을 완화했다.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NanumSquare"/>
              </a:defRPr>
            </a:pPr>
            <a:r>
              <a:t>5. 1차 분석의 한계와 재검증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86384"/>
            <a:ext cx="10607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E6B78"/>
                </a:solidFill>
                <a:latin typeface="NanumSquare"/>
              </a:defRPr>
            </a:pPr>
            <a:r>
              <a:t>그럴듯한 그래프보다 먼저 확인해야 할 것은 데이터 단위의 일치다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0">
                <a:solidFill>
                  <a:srgbClr val="7B8894"/>
                </a:solidFill>
                <a:latin typeface="NanumSquare"/>
              </a:defRPr>
            </a:pPr>
            <a:r>
              <a:t>서울시 따릉이 수급 최적화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0789920" cy="9144"/>
          </a:xfrm>
          <a:prstGeom prst="rect">
            <a:avLst/>
          </a:prstGeom>
          <a:solidFill>
            <a:srgbClr val="E5EAE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F6BFF"/>
                </a:solidFill>
                <a:latin typeface="NanumSquare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835640" cy="749808"/>
          </a:xfrm>
          <a:prstGeom prst="roundRect">
            <a:avLst/>
          </a:prstGeom>
          <a:solidFill>
            <a:srgbClr val="FFF4E8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발견된 문제: 따릉이 이용건수와 지하철 하차인원의 집계 기간이 다르면,</a:t>
            </a:r>
            <a:br/>
            <a:r>
              <a:t>우상향 추세가 “실제 연계 수요”가 아니라 “역 규모 효과”일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137160" bIns="109728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1차 분석의 위험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따릉이: 일자·시간대 기준 이용건수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지하철: 월 누적 하차인원 가능성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하루 이용건수와 월 하차인원을 직접 비교할 위험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73152" cy="2148840"/>
          </a:xfrm>
          <a:prstGeom prst="rect">
            <a:avLst/>
          </a:prstGeom>
          <a:solidFill>
            <a:srgbClr val="D94545"/>
          </a:solidFill>
          <a:ln>
            <a:solidFill>
              <a:srgbClr val="D9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137160" bIns="109728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왜 문제가 되는가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대형 역은 두 수치가 모두 클 수 있음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상관관계가 실제 수요 관계를 과대평가할 수 있음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로그 변환만으로 단위 불일치는 해결되지 않음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331720"/>
            <a:ext cx="73152" cy="2148840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137160" bIns="109728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재검증 방향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월 단위: 월 누적 vs 월 누적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일평균: 일평균 하차인원 vs 일평균 이용건수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퇴근시간과 그 외 시간대 상관계수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73152" cy="2148840"/>
          </a:xfrm>
          <a:prstGeom prst="rect">
            <a:avLst/>
          </a:prstGeom>
          <a:solidFill>
            <a:srgbClr val="10C48B"/>
          </a:solidFill>
          <a:ln>
            <a:solidFill>
              <a:srgbClr val="10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892040"/>
            <a:ext cx="1143000" cy="1143000"/>
          </a:xfrm>
          <a:prstGeom prst="ellipse">
            <a:avLst/>
          </a:prstGeom>
          <a:solidFill>
            <a:srgbClr val="D94545"/>
          </a:solidFill>
          <a:ln>
            <a:solidFill>
              <a:srgbClr val="D9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NanumSquare"/>
              </a:defRPr>
            </a:pPr>
            <a:r>
              <a:t>문제 발견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4892040"/>
            <a:ext cx="1143000" cy="1143000"/>
          </a:xfrm>
          <a:prstGeom prst="ellipse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NanumSquare"/>
              </a:defRPr>
            </a:pPr>
            <a:r>
              <a:t>단위 재정렬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892040"/>
            <a:ext cx="1143000" cy="1143000"/>
          </a:xfrm>
          <a:prstGeom prst="ellipse">
            <a:avLst/>
          </a:prstGeom>
          <a:solidFill>
            <a:srgbClr val="10C48B"/>
          </a:solidFill>
          <a:ln>
            <a:solidFill>
              <a:srgbClr val="10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NanumSquare"/>
              </a:defRPr>
            </a:pPr>
            <a:r>
              <a:t>추가 검증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5468112"/>
            <a:ext cx="173736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06440" y="5468112"/>
            <a:ext cx="173736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6080760"/>
            <a:ext cx="10652760" cy="411480"/>
          </a:xfrm>
          <a:prstGeom prst="roundRect">
            <a:avLst/>
          </a:prstGeom>
          <a:solidFill>
            <a:srgbClr val="EA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250" b="0">
                <a:solidFill>
                  <a:srgbClr val="1F2D3D"/>
                </a:solidFill>
                <a:latin typeface="NanumSquare"/>
              </a:defRPr>
            </a:pPr>
            <a:r>
              <a:t>해석 원칙: 재검증 후에도 퇴근시간대 관계가 유지될 때만, 하차 수요를 재배치 우선순위 지표로 활용한다.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400" b="1">
                <a:solidFill>
                  <a:srgbClr val="1F2D3D"/>
                </a:solidFill>
                <a:latin typeface="NanumSquare"/>
              </a:defRPr>
            </a:pPr>
            <a:r>
              <a:t>6. 분석 결과 1: 퇴근시간 하차 수요와 따릉이 이용 관계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시간대를 분리하자 전체 데이터에서 흐려지던 관계가 명확해짐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algn="r" indent="0" marL="0">
              <a:buNone/>
              <a:defRPr sz="800" b="1">
                <a:solidFill>
                  <a:srgbClr val="2F6BFF"/>
                </a:solidFill>
                <a:latin typeface="NanumSquare"/>
              </a:defRPr>
            </a:pPr>
            <a:r>
              <a:t>07</a:t>
            </a:r>
            <a:endParaRPr lang="en-US" sz="800" dirty="0"/>
          </a:p>
        </p:txBody>
      </p:sp>
      <p:pic>
        <p:nvPicPr>
          <p:cNvPr id="7" name="Image 0" descr="/mnt/data/image(6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7275"/>
            <a:ext cx="7360920" cy="28290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316736"/>
            <a:ext cx="3246120" cy="3017520"/>
          </a:xfrm>
          <a:prstGeom prst="roundRect">
            <a:avLst>
              <a:gd name="adj" fmla="val 4242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49640" y="15910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 포인트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8549640" y="2057400"/>
            <a:ext cx="2615184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퇴근시간(17–19시)은 우상향 추세가 뚜렷함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하차인원이 늘어날수록 따릉이 이용건수도 증가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그 외 시간대는 관계가 상대적으로 약하게 나타남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822960" y="481888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p-value 등 통계 검정값이 제시되기 전에는 “통계적으로 확정”보다 “시각적으로 강한 관계”로 표현하는 것이 안전합니다.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400" b="1">
                <a:solidFill>
                  <a:srgbClr val="1F2D3D"/>
                </a:solidFill>
                <a:latin typeface="NanumSquare"/>
              </a:defRPr>
            </a:pPr>
            <a:r>
              <a:t>7. 분석 결과 2: 따릉이 수요는 퇴근시간대에서 더 선명하다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시간대가 아니라 시간대별로 분리해야 정책 신호가 보인다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algn="r" indent="0" marL="0">
              <a:buNone/>
              <a:defRPr sz="800" b="1">
                <a:solidFill>
                  <a:srgbClr val="2F6BFF"/>
                </a:solidFill>
                <a:latin typeface="NanumSquare"/>
              </a:defRPr>
            </a:pPr>
            <a: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800600" cy="3657600"/>
          </a:xfrm>
          <a:prstGeom prst="roundRect">
            <a:avLst>
              <a:gd name="adj" fmla="val 3500"/>
            </a:avLst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37960" y="1417320"/>
            <a:ext cx="4800600" cy="365760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외 시간대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하차인원 증가가 따릉이 이용으로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곧바로 이어지지 않음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35808"/>
            <a:ext cx="3794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점들이 하단에 넓게 분산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추세선 기울기가 완만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생활·여가 목적 이용이 섞여 신호가 약함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퇴근시간 17–19시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240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지하철 하차 흐름이 따릉이 대여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수요와 함께 움직임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3035808"/>
            <a:ext cx="3794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우상향 추세가 선명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하차 수요가 라스트마일 수요로 전환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재배치 기준으로 활용 가능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743200"/>
            <a:ext cx="438912" cy="43891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474720" y="5440680"/>
            <a:ext cx="5230368" cy="658368"/>
          </a:xfrm>
          <a:prstGeom prst="roundRect">
            <a:avLst>
              <a:gd name="adj" fmla="val 19444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749040" y="5614416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판단은 “전체 평균”이 아니라 “퇴근시간 하차 수요”를 기준으로 해야 한다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400" b="1">
                <a:solidFill>
                  <a:srgbClr val="1F2D3D"/>
                </a:solidFill>
                <a:latin typeface="NanumSquare"/>
              </a:defRPr>
            </a:pPr>
            <a:r>
              <a:t>8. 수급 불균형 지표와 우선 개선 역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수요와 공급을 한 지표로 묶어 재배치·증설 우선순위를 도출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algn="r" indent="0" marL="0">
              <a:buNone/>
              <a:defRPr sz="800" b="1">
                <a:solidFill>
                  <a:srgbClr val="2F6BFF"/>
                </a:solidFill>
                <a:latin typeface="NanumSquare"/>
              </a:defRPr>
            </a:pPr>
            <a: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04672" y="1325880"/>
            <a:ext cx="10607040" cy="1325880"/>
          </a:xfrm>
          <a:prstGeom prst="roundRect">
            <a:avLst>
              <a:gd name="adj" fmla="val 9655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78992" y="1618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수급 불균형 점수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002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 지하철 퇴근시간 하차 수요 점수 + 따릉이 이용 수요 점수 − 따릉이 공급 점수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51560" y="3246120"/>
            <a:ext cx="3035808" cy="1600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07592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 점수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07592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17–19시 하차인원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변환·표준화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035808" cy="1600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10912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이용 점수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10912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따릉이 이용건수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대여·반납 패턴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458200" y="3246120"/>
            <a:ext cx="3035808" cy="16002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14232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공급 점수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14232" y="4005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대여소 수·거치대 수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가동률 또는 공급량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1051560" y="53949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점수가 높을수록 “퇴근시간 하차 수요는 높지만 따릉이 공급이 부족한 역”으로 해석한다.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9784080" cy="41148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400" b="1">
                <a:solidFill>
                  <a:srgbClr val="1F2D3D"/>
                </a:solidFill>
                <a:latin typeface="NanumSquare"/>
              </a:defRPr>
            </a:pPr>
            <a:r>
              <a:t>9. 서울시 재배치·증설 전략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시간대별 운영과 물리적 공급 확대를 함께 적용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5562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서울시 따릉이 수급 최적화 분석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01400" y="6510528"/>
            <a:ext cx="41148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algn="r" indent="0" marL="0">
              <a:buNone/>
              <a:defRPr sz="800" b="1">
                <a:solidFill>
                  <a:srgbClr val="2F6BFF"/>
                </a:solidFill>
                <a:latin typeface="NanumSquare"/>
              </a:defRPr>
            </a:pPr>
            <a: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800600" cy="1325880"/>
          </a:xfrm>
          <a:prstGeom prst="roundRect">
            <a:avLst>
              <a:gd name="adj" fmla="val 9655"/>
            </a:avLst>
          </a:prstGeom>
          <a:solidFill>
            <a:srgbClr val="EFF6FF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5568" y="172821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709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퇴근 전 선배치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828800" y="2130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17시 이전 주거지형 역 주변에 자전거를 선배치해 부족 시간을 줄인다.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800600" cy="1325880"/>
          </a:xfrm>
          <a:prstGeom prst="roundRect">
            <a:avLst>
              <a:gd name="adj" fmla="val 9655"/>
            </a:avLst>
          </a:prstGeom>
          <a:solidFill>
            <a:srgbClr val="ECFDF5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47688" y="172821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60920" y="1709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거치대 증설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60920" y="2130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수급 불균형 점수가 높은 역은 대여소·거치대 확충 후보지로 지정한다.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4800600" cy="1325880"/>
          </a:xfrm>
          <a:prstGeom prst="roundRect">
            <a:avLst>
              <a:gd name="adj" fmla="val 9655"/>
            </a:avLst>
          </a:prstGeom>
          <a:solidFill>
            <a:srgbClr val="FFF7ED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60273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584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우선 관리 역 지정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828800" y="4005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노원 등 주거지형 역을 우선 관리 그룹으로 묶어 반복 모니터링한다.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291840"/>
            <a:ext cx="4800600" cy="1325880"/>
          </a:xfrm>
          <a:prstGeom prst="roundRect">
            <a:avLst>
              <a:gd name="adj" fmla="val 9655"/>
            </a:avLst>
          </a:prstGeom>
          <a:solidFill>
            <a:srgbClr val="FEF2F2"/>
          </a:solidFill>
          <a:ln w="889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47688" y="360273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0920" y="3584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운영 고도화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60920" y="40050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가동률 데이터와 연계해 재배치 기준을 실시간으로 조정한다.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5486400"/>
            <a:ext cx="10058400" cy="512064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889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234440" y="5641848"/>
            <a:ext cx="9601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“부족이 발생한 뒤 대응”이 아니라, 퇴근시간 전에 수요가 예상되는 역에 미리 공급하는 것이다.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NanumSquare"/>
              </a:defRPr>
            </a:pPr>
            <a:r>
              <a:t>10.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86384"/>
            <a:ext cx="10607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5E6B78"/>
                </a:solidFill>
                <a:latin typeface="NanumSquare"/>
              </a:defRPr>
            </a:pPr>
            <a:r>
              <a:t>수요 기반 운영으로 시민 편의와 운영 효율을 함께 개선한다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0">
                <a:solidFill>
                  <a:srgbClr val="7B8894"/>
                </a:solidFill>
                <a:latin typeface="NanumSquare"/>
              </a:defRPr>
            </a:pPr>
            <a:r>
              <a:t>서울시 따릉이 수급 최적화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0789920" cy="9144"/>
          </a:xfrm>
          <a:prstGeom prst="rect">
            <a:avLst/>
          </a:prstGeom>
          <a:solidFill>
            <a:srgbClr val="E5EAE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F6BFF"/>
                </a:solidFill>
                <a:latin typeface="NanumSquare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137160" bIns="109728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시민 관점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퇴근시간대 자전거 부족 경험 완화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지하철-따릉이 연계 이동 편의 향상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민원 감소와 서비스 만족도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73152" cy="1920240"/>
          </a:xfrm>
          <a:prstGeom prst="rect">
            <a:avLst/>
          </a:prstGeom>
          <a:solidFill>
            <a:srgbClr val="10C48B"/>
          </a:solidFill>
          <a:ln>
            <a:solidFill>
              <a:srgbClr val="10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137160" bIns="109728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서울시 운영 관점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재배치 인력·차량 투입 기준 명확화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부족 발생 후 대응에서 사전 배치로 전환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거치대 증설 후보지 선정 근거 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92024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37160" tIns="137160" bIns="109728"/>
          <a:lstStyle/>
          <a:p>
            <a:pPr algn="ctr">
              <a:defRPr sz="1500" b="1">
                <a:solidFill>
                  <a:srgbClr val="1F2D3D"/>
                </a:solidFill>
                <a:latin typeface="NanumSquare"/>
              </a:defRPr>
            </a:pPr>
            <a:r>
              <a:t>분석 고도화 관점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실시간 가동률, 요일, 날씨 데이터 연계 가능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카운트 데이터에 적합한 모델로 검증 강화</a:t>
            </a:r>
          </a:p>
          <a:p>
            <a:pPr>
              <a:lnSpc>
                <a:spcPct val="105000"/>
              </a:lnSpc>
              <a:spcBef>
                <a:spcPts val="500"/>
              </a:spcBef>
              <a:defRPr sz="1150">
                <a:solidFill>
                  <a:srgbClr val="1F2D3D"/>
                </a:solidFill>
                <a:latin typeface="NanumSquare"/>
              </a:defRPr>
            </a:pPr>
            <a:r>
              <a:t>• 탐색적 분석에서 운영 모델로 확장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920240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886200"/>
            <a:ext cx="9966960" cy="1234440"/>
          </a:xfrm>
          <a:prstGeom prst="roundRect">
            <a:avLst/>
          </a:prstGeom>
          <a:solidFill>
            <a:srgbClr val="E9F7F1"/>
          </a:solidFill>
          <a:ln>
            <a:solidFill>
              <a:srgbClr val="10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800" b="1">
                <a:solidFill>
                  <a:srgbClr val="1F2D3D"/>
                </a:solidFill>
                <a:latin typeface="NanumSquare"/>
              </a:defRPr>
            </a:pPr>
            <a:r>
              <a:t>정책 가치는 “가장 이용량이 많은 곳”을 찾는 데 있지 않다.</a:t>
            </a:r>
            <a:br/>
            <a:r>
              <a:t>수요 대비 공급이 부족한 곳을 찾아 먼저 대응하는 데 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532120"/>
            <a:ext cx="8503920" cy="502920"/>
          </a:xfrm>
          <a:prstGeom prst="roundRect">
            <a:avLst/>
          </a:prstGeom>
          <a:solidFill>
            <a:srgbClr val="F5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defRPr sz="1300" b="0">
                <a:solidFill>
                  <a:srgbClr val="5E6B78"/>
                </a:solidFill>
                <a:latin typeface="NanumSquare"/>
              </a:defRPr>
            </a:pPr>
            <a:r>
              <a:t>Data-driven mobility operation: 수요 예측 → 선배치 → 모니터링 → 재조정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2194560" cy="27432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indent="0" marL="0">
              <a:buNone/>
              <a:defRPr sz="1400" b="1">
                <a:solidFill>
                  <a:srgbClr val="4BE3F4"/>
                </a:solidFill>
                <a:latin typeface="NanumSquare"/>
              </a:defRPr>
            </a:pPr>
            <a:r>
              <a:t>11. 최종 결론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6400800" cy="160020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>
              <a:buNone/>
              <a:defRPr sz="2700" b="1">
                <a:solidFill>
                  <a:srgbClr val="FFFFFF"/>
                </a:solidFill>
                <a:latin typeface="NanumSquare"/>
              </a:defRPr>
            </a:pPr>
            <a:r>
              <a:t>퇴근시간 지하철 하차 수요는</a:t>
            </a:r>
            <a:br/>
            <a:r>
              <a:t>따릉이 이용 수요를 설명하는</a:t>
            </a:r>
            <a:br/>
            <a:r>
              <a:t>핵심 지표로 확인되었다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49808" y="3291840"/>
            <a:ext cx="6949440" cy="50292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t">
            <a:normAutofit/>
          </a:bodyPr>
          <a:lstStyle/>
          <a:p>
            <a:pPr indent="0" marL="0">
              <a:buNone/>
              <a:defRPr sz="1220" b="0">
                <a:solidFill>
                  <a:srgbClr val="9AB5C9"/>
                </a:solidFill>
                <a:latin typeface="NanumSquare"/>
              </a:defRPr>
            </a:pPr>
            <a:r>
              <a:t>서울시는 지하철 하차 수요와 따릉이 이용 데이터를 함께 활용하여</a:t>
            </a:r>
            <a:br/>
            <a:r>
              <a:t>재배치 및 거치대 증설 후보지를 선정할 수 있다.</a:t>
            </a:r>
            <a:br/>
            <a:br/>
            <a:r>
              <a:t>본 연구는 재배치 우선순위를 정하기 위한 탐색적 분석이며,</a:t>
            </a:r>
            <a:br/>
            <a:r>
              <a:t>실시간 공급량·요일·기상 정보를 추가하면 더 정교한 운영 모델로 확장할 수 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95360" y="123444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95360" y="136245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72600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 algn="l">
              <a:buNone/>
              <a:defRPr sz="1200" b="1">
                <a:solidFill>
                  <a:srgbClr val="FFFFFF"/>
                </a:solidFill>
                <a:latin typeface="NanumSquare"/>
              </a:defRPr>
            </a:pPr>
            <a:r>
              <a:t>퇴근시간 하차 수요 지표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595360" y="2468880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95360" y="259689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72600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 algn="l">
              <a:buNone/>
              <a:defRPr sz="1200" b="1">
                <a:solidFill>
                  <a:srgbClr val="FFFFFF"/>
                </a:solidFill>
                <a:latin typeface="NanumSquare"/>
              </a:defRPr>
            </a:pPr>
            <a:r>
              <a:t>수요·공급 통합 지표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595360" y="370332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0" y="38313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7260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>
            <a:normAutofit/>
          </a:bodyPr>
          <a:lstStyle/>
          <a:p>
            <a:pPr indent="0" marL="0" algn="l">
              <a:buNone/>
              <a:defRPr sz="1200" b="1">
                <a:solidFill>
                  <a:srgbClr val="FFFFFF"/>
                </a:solidFill>
                <a:latin typeface="NanumSquare"/>
              </a:defRPr>
            </a:pPr>
            <a:r>
              <a:t>재검증 기반 우선순위 운영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85800" y="5989320"/>
            <a:ext cx="10789920" cy="0"/>
          </a:xfrm>
          <a:prstGeom prst="line">
            <a:avLst/>
          </a:prstGeom>
          <a:noFill/>
          <a:ln w="12700">
            <a:solidFill>
              <a:srgbClr val="27476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6245352"/>
            <a:ext cx="3200400" cy="182880"/>
          </a:xfrm>
          <a:prstGeom prst="rect">
            <a:avLst/>
          </a:prstGeom>
          <a:noFill/>
          <a:ln/>
        </p:spPr>
        <p:txBody>
          <a:bodyPr wrap="square" lIns="109728" tIns="73152" rIns="109728" bIns="73152" rtlCol="0" anchor="ctr"/>
          <a:lstStyle/>
          <a:p>
            <a:pPr indent="0" marL="0">
              <a:buNone/>
              <a:defRPr sz="800" b="0">
                <a:solidFill>
                  <a:srgbClr val="9AB5C9"/>
                </a:solidFill>
                <a:latin typeface="NanumSquare"/>
              </a:defRPr>
            </a:pPr>
            <a:r>
              <a:t>Exploratory analysis for data-driven mobility operation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지하철 하차 수요 기반 따릉이 재배치·증설 전략</dc:title>
  <dc:subject>서울시 따릉이 수급 최적화 분석</dc:subject>
  <dc:creator>OpenAI</dc:creator>
  <cp:lastModifiedBy>OpenAI</cp:lastModifiedBy>
  <cp:revision>1</cp:revision>
  <dcterms:created xsi:type="dcterms:W3CDTF">2026-06-26T03:03:11Z</dcterms:created>
  <dcterms:modified xsi:type="dcterms:W3CDTF">2026-06-26T03:03:11Z</dcterms:modified>
</cp:coreProperties>
</file>